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2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097280"/>
            <a:ext cx="11277295" cy="2223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 err="1">
                <a:solidFill>
                  <a:srgbClr val="CCFBF1"/>
                </a:solidFill>
                <a:latin typeface="Arial"/>
              </a:rPr>
              <a:t>Programme</a:t>
            </a:r>
            <a:r>
              <a:rPr sz="2400" b="1" dirty="0">
                <a:solidFill>
                  <a:srgbClr val="CCFBF1"/>
                </a:solidFill>
                <a:latin typeface="Arial"/>
              </a:rPr>
              <a:t>: </a:t>
            </a:r>
            <a:r>
              <a:rPr sz="2400" b="1" dirty="0" err="1">
                <a:solidFill>
                  <a:srgbClr val="CCFBF1"/>
                </a:solidFill>
                <a:latin typeface="Arial"/>
              </a:rPr>
              <a:t>B.Tech</a:t>
            </a:r>
            <a:r>
              <a:rPr sz="2400" b="1" dirty="0">
                <a:solidFill>
                  <a:srgbClr val="CCFBF1"/>
                </a:solidFill>
                <a:latin typeface="Arial"/>
              </a:rPr>
              <a:t> in Computer Science and Engineering  </a:t>
            </a:r>
            <a:endParaRPr lang="en-US" sz="2400" b="1" dirty="0">
              <a:solidFill>
                <a:srgbClr val="CCFBF1"/>
              </a:solidFill>
              <a:latin typeface="Arial"/>
            </a:endParaRPr>
          </a:p>
          <a:p>
            <a:pPr algn="ctr"/>
            <a:r>
              <a:rPr sz="2400" b="1" dirty="0">
                <a:solidFill>
                  <a:srgbClr val="CCFBF1"/>
                </a:solidFill>
                <a:latin typeface="Arial"/>
              </a:rPr>
              <a:t>  Course Code: BCSE497J</a:t>
            </a:r>
          </a:p>
          <a:p>
            <a:pPr algn="ctr">
              <a:spcBef>
                <a:spcPts val="1500"/>
              </a:spcBef>
            </a:pPr>
            <a:r>
              <a:rPr sz="2400" b="1" dirty="0">
                <a:solidFill>
                  <a:srgbClr val="FFFFFF"/>
                </a:solidFill>
                <a:latin typeface="Georgia"/>
              </a:rPr>
              <a:t>Protocol-Gated Three-Class EEG Classification of Mental State:</a:t>
            </a:r>
            <a:br>
              <a:rPr sz="1400" dirty="0"/>
            </a:br>
            <a:r>
              <a:rPr sz="2400" b="1" dirty="0">
                <a:solidFill>
                  <a:srgbClr val="FFFFFF"/>
                </a:solidFill>
                <a:latin typeface="Georgia"/>
              </a:rPr>
              <a:t>Healthy, Depression, and Stress</a:t>
            </a:r>
          </a:p>
          <a:p>
            <a:pPr algn="ctr">
              <a:spcBef>
                <a:spcPts val="1200"/>
              </a:spcBef>
            </a:pPr>
            <a:r>
              <a:rPr sz="1600" b="1" dirty="0" err="1">
                <a:solidFill>
                  <a:srgbClr val="CCFBF1"/>
                </a:solidFill>
                <a:latin typeface="Arial"/>
              </a:rPr>
              <a:t>B.Tech</a:t>
            </a:r>
            <a:r>
              <a:rPr sz="1600" b="1" dirty="0">
                <a:solidFill>
                  <a:srgbClr val="CCFBF1"/>
                </a:solidFill>
                <a:latin typeface="Arial"/>
              </a:rPr>
              <a:t> Fall Semester Project Review 2 (Project ID: 2</a:t>
            </a:r>
            <a:r>
              <a:rPr lang="en-US" sz="1600" b="1" dirty="0">
                <a:solidFill>
                  <a:srgbClr val="CCFBF1"/>
                </a:solidFill>
                <a:latin typeface="Arial"/>
              </a:rPr>
              <a:t>0701UG01</a:t>
            </a:r>
            <a:r>
              <a:rPr sz="1600" b="1" dirty="0">
                <a:solidFill>
                  <a:srgbClr val="CCFBF1"/>
                </a:solidFill>
                <a:latin typeface="Arial"/>
              </a:rPr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5600" y="4785360"/>
            <a:ext cx="502920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CCFBF1"/>
                </a:solidFill>
                <a:latin typeface="Arial"/>
              </a:rPr>
              <a:t>STUDENT TEAM MEMBERS</a:t>
            </a:r>
          </a:p>
          <a:p>
            <a:pPr>
              <a:spcBef>
                <a:spcPts val="600"/>
              </a:spcBef>
            </a:pPr>
            <a:r>
              <a:rPr sz="2000" dirty="0">
                <a:solidFill>
                  <a:srgbClr val="F1F5F9"/>
                </a:solidFill>
                <a:latin typeface="Arial"/>
              </a:rPr>
              <a:t>• Saksham Singh  (23BDS0028)</a:t>
            </a:r>
          </a:p>
          <a:p>
            <a:pPr>
              <a:spcBef>
                <a:spcPts val="600"/>
              </a:spcBef>
            </a:pPr>
            <a:r>
              <a:rPr sz="2000" dirty="0">
                <a:solidFill>
                  <a:srgbClr val="F1F5F9"/>
                </a:solidFill>
                <a:latin typeface="Arial"/>
              </a:rPr>
              <a:t>• Anish Mukul Ringe  (23BDS0082)</a:t>
            </a:r>
          </a:p>
          <a:p>
            <a:pPr>
              <a:spcBef>
                <a:spcPts val="600"/>
              </a:spcBef>
            </a:pPr>
            <a:r>
              <a:rPr sz="2000" dirty="0">
                <a:solidFill>
                  <a:srgbClr val="F1F5F9"/>
                </a:solidFill>
                <a:latin typeface="Arial"/>
              </a:rPr>
              <a:t>• Akshat Agarwal  (23BKT0003)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40320" y="4700721"/>
            <a:ext cx="502920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CCFBF1"/>
                </a:solidFill>
                <a:latin typeface="Arial"/>
              </a:rPr>
              <a:t>FACULTY SUPERVISOR</a:t>
            </a: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F1F5F9"/>
                </a:solidFill>
                <a:latin typeface="Arial"/>
              </a:rPr>
              <a:t>Prof. Dhivyaa C. R.</a:t>
            </a:r>
            <a:br>
              <a:rPr sz="2800" dirty="0"/>
            </a:br>
            <a:r>
              <a:rPr sz="2000" b="1" dirty="0">
                <a:solidFill>
                  <a:srgbClr val="F1F5F9"/>
                </a:solidFill>
                <a:latin typeface="Arial"/>
              </a:rPr>
              <a:t>School of Computer Science &amp; Engineering (SCOPE)</a:t>
            </a:r>
          </a:p>
          <a:p>
            <a:pPr>
              <a:spcBef>
                <a:spcPts val="400"/>
              </a:spcBef>
            </a:pPr>
            <a:r>
              <a:rPr dirty="0">
                <a:solidFill>
                  <a:srgbClr val="F1F5F9"/>
                </a:solidFill>
                <a:latin typeface="Arial"/>
              </a:rPr>
              <a:t>Vellore Institute of Technology, Vellore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0" y="365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F766E"/>
                </a:solidFill>
                <a:latin typeface="Arial"/>
              </a:rPr>
              <a:t>BCSE497J - Project -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Georgia"/>
              </a:rPr>
              <a:t>Approval Mail From Guide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7295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>
                <a:solidFill>
                  <a:srgbClr val="475569"/>
                </a:solidFill>
                <a:latin typeface="Arial"/>
              </a:rPr>
              <a:t>22-08-2026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379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Arial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728596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 dirty="0">
                <a:solidFill>
                  <a:srgbClr val="475569"/>
                </a:solidFill>
                <a:latin typeface="Arial"/>
              </a:rPr>
              <a:t>Official approval obtained for Project Scope, Objectives, and System Design before Review 2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746504"/>
            <a:ext cx="944849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0" y="365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F766E"/>
                </a:solidFill>
                <a:latin typeface="Arial"/>
              </a:rPr>
              <a:t>BCSE497J - Project -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Georgia"/>
              </a:rPr>
              <a:t>Project Aim, Background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7295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Arial"/>
              </a:rPr>
              <a:t>22-08-2026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379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Arial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Arial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277295" cy="146304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Arial"/>
              </a:rPr>
              <a:t>PROJECT AIM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F172A"/>
                </a:solidFill>
                <a:latin typeface="Georgia"/>
              </a:rPr>
              <a:t>To build a robust, scientifically honest, and reproducible three-class EEG classifier over {Healthy, Depression, Stress} using frontal channels, strictly evaluated under subject-disjoint and device-disjoint conditions to actively expose and bypass data-leakage and hardware confounds common in published literature.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40"/>
            <a:ext cx="53949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Arial"/>
              </a:rPr>
              <a:t>CLINICAL BACKGROUND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Subjective Diagnostic Paradigm:</a:t>
            </a:r>
            <a:r>
              <a:rPr sz="1100">
                <a:solidFill>
                  <a:srgbClr val="0F172A"/>
                </a:solidFill>
                <a:latin typeface="Arial"/>
              </a:rPr>
              <a:t> Current diagnosis relies heavily on self-reports (PHQ-9, GAD-7) and subjective clinical interviews [56, 62].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Scaling Bottleneck:</a:t>
            </a:r>
            <a:r>
              <a:rPr sz="1100">
                <a:solidFill>
                  <a:srgbClr val="0F172A"/>
                </a:solidFill>
                <a:latin typeface="Arial"/>
              </a:rPr>
              <a:t> High mental health caseloads limit the availability of specialists, creating an urgent need for automated, low-cost screening [56, 62].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Scalability of Frontal EEG:</a:t>
            </a:r>
            <a:r>
              <a:rPr sz="1100">
                <a:solidFill>
                  <a:srgbClr val="0F172A"/>
                </a:solidFill>
                <a:latin typeface="Arial"/>
              </a:rPr>
              <a:t> Direct, non-invasive measurement of cortical activity; few frontal electrodes enable rapid, general-practitioner deployment [56, 63].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9535" y="2834640"/>
            <a:ext cx="53949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22415" y="292608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Arial"/>
              </a:rPr>
              <a:t>SCIENTIFIC REPRODUCIBILITY CRISIS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The 99% Accuracy Trap:</a:t>
            </a:r>
            <a:r>
              <a:rPr sz="1100">
                <a:solidFill>
                  <a:srgbClr val="0F172A"/>
                </a:solidFill>
                <a:latin typeface="Arial"/>
              </a:rPr>
              <a:t> Academic papers report near-perfect EEG classifier performance, but methods reveal critical data leaks [56, 63].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Temporal Data Leakage:</a:t>
            </a:r>
            <a:r>
              <a:rPr sz="1100">
                <a:solidFill>
                  <a:srgbClr val="0F172A"/>
                </a:solidFill>
                <a:latin typeface="Arial"/>
              </a:rPr>
              <a:t> Splitting overlapping windows randomly places identical subject impedance on both sides of train/test folds [56, 64].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Hardware Confounding:</a:t>
            </a:r>
            <a:r>
              <a:rPr sz="1100">
                <a:solidFill>
                  <a:srgbClr val="0F172A"/>
                </a:solidFill>
                <a:latin typeface="Arial"/>
              </a:rPr>
              <a:t> Multi-class EEG studies pool single-class corpora, allowing deep models to identify hardware signatures instead of brain pathology [57, 65].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0" y="365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F766E"/>
                </a:solidFill>
                <a:latin typeface="Arial"/>
              </a:rPr>
              <a:t>BCSE497J - Project -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Georgia"/>
              </a:rPr>
              <a:t>Technical Project 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7295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Arial"/>
              </a:rPr>
              <a:t>22-08-2026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379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Arial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Arial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277295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72865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EXECUTIVE TECHNICAL SUMMARY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Unification of 6 Corpora: </a:t>
            </a:r>
            <a:r>
              <a:rPr sz="1150">
                <a:solidFill>
                  <a:srgbClr val="475569"/>
                </a:solidFill>
                <a:latin typeface="Arial"/>
              </a:rPr>
              <a:t>Unified six public EEG corpora (MODMA, Mumtaz, SAM40, Cognitive Load, EEGMAT, BRMH) onto a highly standardized representation of six frontal channels (Fp1, Fp2, F7, F3, F4, F8) at 128 Hz in 4s windows, generating 15,728 clean EEG segments across 108 subjects [57, 65].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Unmasking the Device Confound: </a:t>
            </a:r>
            <a:r>
              <a:rPr sz="1150">
                <a:solidFill>
                  <a:srgbClr val="475569"/>
                </a:solidFill>
                <a:latin typeface="Arial"/>
              </a:rPr>
              <a:t>Proven that multi-class pooling silently enables models to identify recording amplifiers rather than neurophysiology. A non-EEG device-only classifier scores 0.6267 three-class accuracy, and stripping this signature via Riemannian re-centering collapses performance to 0.3255 (chance level is 0.3333) [57, 58].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Protocol-Gated Factorization: </a:t>
            </a:r>
            <a:r>
              <a:rPr sz="1150">
                <a:solidFill>
                  <a:srgbClr val="475569"/>
                </a:solidFill>
                <a:latin typeface="Arial"/>
              </a:rPr>
              <a:t>Proposed a dual-head model where a shared EEGNet backbone feeds two masked binary heads. The emitted label is selected by one bit of metadata (resting vs. task) known at acquisition, avoiding a flat softmax and preventing hardware memorization [58, 110].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Hierarchical Router &amp; Specialists: </a:t>
            </a:r>
            <a:r>
              <a:rPr sz="1150">
                <a:solidFill>
                  <a:srgbClr val="475569"/>
                </a:solidFill>
                <a:latin typeface="Arial"/>
              </a:rPr>
              <a:t>Designed an autonomous hierarchical router-plus-specialist model achieving 0.6820 three-class accuracy, representing the ONLY architecture out of 36 configurations to successfully clear the non-EEG device shortcut (+0.0553) [58, 113].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Robust Clinical Transfer: </a:t>
            </a:r>
            <a:r>
              <a:rPr sz="1150">
                <a:solidFill>
                  <a:srgbClr val="475569"/>
                </a:solidFill>
                <a:latin typeface="Arial"/>
              </a:rPr>
              <a:t>Established device-disjoint depression transfer (MODMA &lt;-&gt; Mumtaz) achieving 0.8675 / 0.8438 accuracy across two independent split draws (permutation null: 0.3998). Cross-device stress transfer is shown to be inert [58, 114].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0" y="365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F766E"/>
                </a:solidFill>
                <a:latin typeface="Arial"/>
              </a:rPr>
              <a:t>BCSE497J - Project -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Georgia"/>
              </a:rPr>
              <a:t>Literature Review: EEG Affective Classifiers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7295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Arial"/>
              </a:rPr>
              <a:t>22-08-2026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379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Arial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475569"/>
                </a:solidFill>
                <a:latin typeface="Arial"/>
              </a:rPr>
              <a:t>Recent EEG-based affective computing studies and their key methodological boundaries (Max 2 slides)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55448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Paper / Study</a:t>
                      </a:r>
                    </a:p>
                  </a:txBody>
                  <a:tcPr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Methodology</a:t>
                      </a:r>
                    </a:p>
                  </a:txBody>
                  <a:tcPr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Pros / Cons</a:t>
                      </a:r>
                    </a:p>
                  </a:txBody>
                  <a:tcPr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Findings / Accuracy</a:t>
                      </a:r>
                    </a:p>
                  </a:txBody>
                  <a:tcPr marL="76200" marR="76200" marT="50800" marB="50800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766E"/>
                          </a:solidFill>
                          <a:latin typeface="Arial"/>
                        </a:rPr>
                        <a:t>Wang et al. (2021) [47]</a:t>
                      </a:r>
                    </a:p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MODMA Dataset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Detect major depression from frontal resting EEG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Intrinsic Time-scale Decomposition (ITD) + Temporal Conv Net (TCN)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Pros: Effective temporal learning</a:t>
                      </a:r>
                    </a:p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Cons: Single-corpus training with high generalization risk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766E"/>
                          </a:solidFill>
                          <a:latin typeface="Arial"/>
                        </a:rPr>
                        <a:t>86.87% Accuracy</a:t>
                      </a:r>
                    </a:p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on MDD versus healthy controls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766E"/>
                          </a:solidFill>
                          <a:latin typeface="Arial"/>
                        </a:rPr>
                        <a:t>Hamatta et al. (2022) [48]</a:t>
                      </a:r>
                    </a:p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Multimodal Data</a:t>
                      </a:r>
                    </a:p>
                  </a:txBody>
                  <a:tcPr marL="76200" marR="762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Improve physiological stress classification</a:t>
                      </a:r>
                    </a:p>
                  </a:txBody>
                  <a:tcPr marL="76200" marR="762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Genetic Algorithm + ECNN-LSTM on EEG, PPG, GSR signals</a:t>
                      </a:r>
                    </a:p>
                  </a:txBody>
                  <a:tcPr marL="76200" marR="762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Pros: Extremely high classification accuracy</a:t>
                      </a:r>
                    </a:p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Cons: Multi-sensor complex setup; limited feature analysis</a:t>
                      </a:r>
                    </a:p>
                  </a:txBody>
                  <a:tcPr marL="76200" marR="762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766E"/>
                          </a:solidFill>
                          <a:latin typeface="Arial"/>
                        </a:rPr>
                        <a:t>99.9% Accuracy</a:t>
                      </a:r>
                    </a:p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on pooled physiological stress data</a:t>
                      </a:r>
                    </a:p>
                  </a:txBody>
                  <a:tcPr marL="76200" marR="76200" marT="50800" marB="508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766E"/>
                          </a:solidFill>
                          <a:latin typeface="Arial"/>
                        </a:rPr>
                        <a:t>Singh et al. (2024) [45]</a:t>
                      </a:r>
                    </a:p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EEG &amp; Audio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Develop multimodal framework for depression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ResKAN Encoder + Cross-Attention using EEG &amp; Audio data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Pros: Deep multimodal interaction</a:t>
                      </a:r>
                    </a:p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Cons: High computational latency; highly dependent on audio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766E"/>
                          </a:solidFill>
                          <a:latin typeface="Arial"/>
                        </a:rPr>
                        <a:t>99.0% Multimodal</a:t>
                      </a:r>
                    </a:p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98.0% EEG-alone accuracy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766E"/>
                          </a:solidFill>
                          <a:latin typeface="Arial"/>
                        </a:rPr>
                        <a:t>Lloyd et al. (2024) [49]</a:t>
                      </a:r>
                    </a:p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SAM40 Dataset</a:t>
                      </a:r>
                    </a:p>
                  </a:txBody>
                  <a:tcPr marL="76200" marR="762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Evaluate pre-trained foundation model on stress</a:t>
                      </a:r>
                    </a:p>
                  </a:txBody>
                  <a:tcPr marL="76200" marR="762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Neuro-GPT Fine-Tuning with SVM on preprocessed EEG data</a:t>
                      </a:r>
                    </a:p>
                  </a:txBody>
                  <a:tcPr marL="76200" marR="762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Pros: Introduces large foundation pretraining</a:t>
                      </a:r>
                    </a:p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Cons: Subjective stress labels; massive electrode mismatch</a:t>
                      </a:r>
                    </a:p>
                  </a:txBody>
                  <a:tcPr marL="76200" marR="762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766E"/>
                          </a:solidFill>
                          <a:latin typeface="Arial"/>
                        </a:rPr>
                        <a:t>74.4% Accuracy</a:t>
                      </a:r>
                    </a:p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on 40-subject stress task</a:t>
                      </a:r>
                    </a:p>
                  </a:txBody>
                  <a:tcPr marL="76200" marR="76200" marT="50800" marB="508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766E"/>
                          </a:solidFill>
                          <a:latin typeface="Arial"/>
                        </a:rPr>
                        <a:t>EEG ML/DL Survey (2025) [50]</a:t>
                      </a:r>
                    </a:p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Comprehensive Review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Review SOTA EEG depression detection models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Comprehensive survey of CNN, RNN, LSTM, and Hybrid models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Pros: Clear landscape audit</a:t>
                      </a:r>
                    </a:p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Cons: Highlights that SOTA relies on binary &amp; single-corpus tests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766E"/>
                          </a:solidFill>
                          <a:latin typeface="Arial"/>
                        </a:rPr>
                        <a:t>Concludes that domain shift and multi-class are unaddressed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0" y="365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F766E"/>
                </a:solidFill>
                <a:latin typeface="Arial"/>
              </a:rPr>
              <a:t>BCSE497J - Project -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Georgia"/>
              </a:rPr>
              <a:t>Key Gaps in Current Academic Literature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7295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Arial"/>
              </a:rPr>
              <a:t>22-08-2026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379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Arial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Arial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474720" cy="21945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91B1B"/>
                </a:solidFill>
                <a:latin typeface="Arial"/>
              </a:rPr>
              <a:t>Gap 1: Dataset Confounding (Hardware Bias)</a:t>
            </a:r>
          </a:p>
          <a:p>
            <a:pPr>
              <a:lnSpc>
                <a:spcPct val="110000"/>
              </a:lnSpc>
            </a:pPr>
            <a:r>
              <a:rPr sz="950">
                <a:solidFill>
                  <a:srgbClr val="0F172A"/>
                </a:solidFill>
                <a:latin typeface="Arial"/>
              </a:rPr>
              <a:t>Multi-class EEG papers pool distinct single-class corpora, which silently couples pathology labels with recording amplifiers. An SVM or CNN given ONLY recording device identity scores 0.6267 accuracy, completely bypassing neurophysiology [82, 83].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474720" cy="21945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50876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91B1B"/>
                </a:solidFill>
                <a:latin typeface="Arial"/>
              </a:rPr>
              <a:t>Gap 2: Unsound Evaluation (Data Leakage)</a:t>
            </a:r>
          </a:p>
          <a:p>
            <a:pPr>
              <a:lnSpc>
                <a:spcPct val="110000"/>
              </a:lnSpc>
            </a:pPr>
            <a:r>
              <a:rPr sz="950">
                <a:solidFill>
                  <a:srgbClr val="0F172A"/>
                </a:solidFill>
                <a:latin typeface="Arial"/>
              </a:rPr>
              <a:t>Studies routinely employ random train/test splits on overlapping signal windows. This leaks a subject's unique temporal and spatial skull impedance to both sides of the split, inflating a simple model's performance from 0.6256 to 0.9393 [84].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50876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F766E"/>
                </a:solidFill>
                <a:latin typeface="Arial"/>
              </a:rPr>
              <a:t>Gap 3: Lack of Empirical Controls</a:t>
            </a:r>
          </a:p>
          <a:p>
            <a:pPr>
              <a:lnSpc>
                <a:spcPct val="110000"/>
              </a:lnSpc>
            </a:pPr>
            <a:r>
              <a:rPr sz="950">
                <a:solidFill>
                  <a:srgbClr val="0F172A"/>
                </a:solidFill>
                <a:latin typeface="Arial"/>
              </a:rPr>
              <a:t>Papers assert deep-learning superiority without benchmarking against untrained/random networks. When tested, an untrained random backbone matches or exceeds trained networks on stress tasks (0.6390 vs 0.5884 trial AUC) [84].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7440" y="374903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14600" y="3886199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F766E"/>
                </a:solidFill>
                <a:latin typeface="Arial"/>
              </a:rPr>
              <a:t>Gap 4: Unmeasured Generalization Limits</a:t>
            </a:r>
          </a:p>
          <a:p>
            <a:pPr>
              <a:lnSpc>
                <a:spcPct val="110000"/>
              </a:lnSpc>
            </a:pPr>
            <a:r>
              <a:rPr sz="950">
                <a:solidFill>
                  <a:srgbClr val="0F172A"/>
                </a:solidFill>
                <a:latin typeface="Arial"/>
              </a:rPr>
              <a:t>Cross-device clinical transfer is rarely evaluated. When dropped into device-disjoint scenarios (unseen amplifiers), conventional flat multi-class models collapse completely to chance levels [85, 91].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4903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3886199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F766E"/>
                </a:solidFill>
                <a:latin typeface="Arial"/>
              </a:rPr>
              <a:t>Gap 5: Anxiety Under-served in EEG</a:t>
            </a:r>
          </a:p>
          <a:p>
            <a:pPr>
              <a:lnSpc>
                <a:spcPct val="110000"/>
              </a:lnSpc>
            </a:pPr>
            <a:r>
              <a:rPr sz="950">
                <a:solidFill>
                  <a:srgbClr val="0F172A"/>
                </a:solidFill>
                <a:latin typeface="Arial"/>
              </a:rPr>
              <a:t>No raw EEG dataset co-registers anxiety alongside stress and depression. On the single-protocol clinical cohort (BRMH, n=527) where all four classes coexist, anxiety is the least recoverable class, with recall at 0.146–0.178 [85].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0" y="365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F766E"/>
                </a:solidFill>
                <a:latin typeface="Arial"/>
              </a:rPr>
              <a:t>BCSE497J - Project -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Georgia"/>
              </a:rPr>
              <a:t>Objectives, SDGs, and Expected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7295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Arial"/>
              </a:rPr>
              <a:t>22-08-2026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379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Arial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Arial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39496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5029200" cy="3156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 dirty="0">
                <a:solidFill>
                  <a:srgbClr val="0F766E"/>
                </a:solidFill>
                <a:latin typeface="Arial"/>
              </a:rPr>
              <a:t>OBJECTIVES</a:t>
            </a:r>
          </a:p>
          <a:p>
            <a:pPr>
              <a:lnSpc>
                <a:spcPct val="110000"/>
              </a:lnSpc>
              <a:spcBef>
                <a:spcPts val="500"/>
              </a:spcBef>
              <a:spcAft>
                <a:spcPts val="200"/>
              </a:spcAft>
            </a:pPr>
            <a:r>
              <a:rPr sz="1050" b="1" dirty="0">
                <a:solidFill>
                  <a:srgbClr val="0F172A"/>
                </a:solidFill>
                <a:latin typeface="Arial"/>
              </a:rPr>
              <a:t>O1. Unify Heterogeneous Corpora: </a:t>
            </a:r>
            <a:r>
              <a:rPr sz="1000" dirty="0">
                <a:solidFill>
                  <a:srgbClr val="475569"/>
                </a:solidFill>
                <a:latin typeface="Arial"/>
              </a:rPr>
              <a:t>Project 6 raw EEG datasets onto canonical 6 frontal channels (Fp1, Fp2, F7, F3, F4, F8) at 128 Hz in 4s windows with zero </a:t>
            </a:r>
            <a:r>
              <a:rPr sz="1000" dirty="0" err="1">
                <a:solidFill>
                  <a:srgbClr val="475569"/>
                </a:solidFill>
                <a:latin typeface="Arial"/>
              </a:rPr>
              <a:t>NaNs</a:t>
            </a:r>
            <a:r>
              <a:rPr sz="1000" dirty="0">
                <a:solidFill>
                  <a:srgbClr val="475569"/>
                </a:solidFill>
                <a:latin typeface="Arial"/>
              </a:rPr>
              <a:t> [86, 88].</a:t>
            </a:r>
          </a:p>
          <a:p>
            <a:pPr>
              <a:lnSpc>
                <a:spcPct val="110000"/>
              </a:lnSpc>
              <a:spcBef>
                <a:spcPts val="500"/>
              </a:spcBef>
              <a:spcAft>
                <a:spcPts val="200"/>
              </a:spcAft>
            </a:pPr>
            <a:r>
              <a:rPr sz="1050" b="1" dirty="0">
                <a:solidFill>
                  <a:srgbClr val="0F172A"/>
                </a:solidFill>
                <a:latin typeface="Arial"/>
              </a:rPr>
              <a:t>O2. Quantify Confound Baseline: </a:t>
            </a:r>
            <a:r>
              <a:rPr sz="1000" dirty="0">
                <a:solidFill>
                  <a:srgbClr val="475569"/>
                </a:solidFill>
                <a:latin typeface="Arial"/>
              </a:rPr>
              <a:t>Measure the non-EEG device-only baseline (0.6267 shortcut) before deep learning architecture exploration [86, 88].</a:t>
            </a:r>
          </a:p>
          <a:p>
            <a:pPr>
              <a:lnSpc>
                <a:spcPct val="110000"/>
              </a:lnSpc>
              <a:spcBef>
                <a:spcPts val="500"/>
              </a:spcBef>
              <a:spcAft>
                <a:spcPts val="200"/>
              </a:spcAft>
            </a:pPr>
            <a:r>
              <a:rPr sz="1050" b="1" dirty="0">
                <a:solidFill>
                  <a:srgbClr val="0F172A"/>
                </a:solidFill>
                <a:latin typeface="Arial"/>
              </a:rPr>
              <a:t>O3. Establish Rigorous Ceilings: </a:t>
            </a:r>
            <a:r>
              <a:rPr sz="1000" dirty="0">
                <a:solidFill>
                  <a:srgbClr val="475569"/>
                </a:solidFill>
                <a:latin typeface="Arial"/>
              </a:rPr>
              <a:t>Enforce 5-fold subject-grouped CV with out-of-fold evaluations for honest per-task baseline [86, 88].</a:t>
            </a:r>
          </a:p>
          <a:p>
            <a:pPr>
              <a:lnSpc>
                <a:spcPct val="110000"/>
              </a:lnSpc>
              <a:spcBef>
                <a:spcPts val="500"/>
              </a:spcBef>
              <a:spcAft>
                <a:spcPts val="200"/>
              </a:spcAft>
            </a:pPr>
            <a:r>
              <a:rPr sz="1050" b="1" dirty="0">
                <a:solidFill>
                  <a:srgbClr val="0F172A"/>
                </a:solidFill>
                <a:latin typeface="Arial"/>
              </a:rPr>
              <a:t>O4. Algorithm Innovation: </a:t>
            </a:r>
            <a:r>
              <a:rPr sz="1000" dirty="0">
                <a:solidFill>
                  <a:srgbClr val="475569"/>
                </a:solidFill>
                <a:latin typeface="Arial"/>
              </a:rPr>
              <a:t>Design a multi-class architecture that strictly beats the 0.6267 device-only shortcut [86, 88].</a:t>
            </a:r>
          </a:p>
          <a:p>
            <a:pPr>
              <a:lnSpc>
                <a:spcPct val="110000"/>
              </a:lnSpc>
              <a:spcBef>
                <a:spcPts val="500"/>
              </a:spcBef>
              <a:spcAft>
                <a:spcPts val="200"/>
              </a:spcAft>
            </a:pPr>
            <a:r>
              <a:rPr sz="1050" b="1" dirty="0">
                <a:solidFill>
                  <a:srgbClr val="0F172A"/>
                </a:solidFill>
                <a:latin typeface="Arial"/>
              </a:rPr>
              <a:t>O5. Device-Disjoint Transfer: </a:t>
            </a:r>
            <a:r>
              <a:rPr sz="1000" dirty="0">
                <a:solidFill>
                  <a:srgbClr val="475569"/>
                </a:solidFill>
                <a:latin typeface="Arial"/>
              </a:rPr>
              <a:t>Measure performance cross-device under a label-permutation null to prove true physiological generalization [87, 88].</a:t>
            </a:r>
          </a:p>
          <a:p>
            <a:pPr>
              <a:lnSpc>
                <a:spcPct val="110000"/>
              </a:lnSpc>
              <a:spcBef>
                <a:spcPts val="500"/>
              </a:spcBef>
              <a:spcAft>
                <a:spcPts val="200"/>
              </a:spcAft>
            </a:pPr>
            <a:r>
              <a:rPr sz="1050" b="1" dirty="0">
                <a:solidFill>
                  <a:srgbClr val="0F172A"/>
                </a:solidFill>
                <a:latin typeface="Arial"/>
              </a:rPr>
              <a:t>O6. Serialized Deployment: </a:t>
            </a:r>
            <a:r>
              <a:rPr sz="1000" dirty="0">
                <a:solidFill>
                  <a:srgbClr val="475569"/>
                </a:solidFill>
                <a:latin typeface="Arial"/>
              </a:rPr>
              <a:t>Deliver a </a:t>
            </a:r>
            <a:r>
              <a:rPr sz="1000" dirty="0" err="1">
                <a:solidFill>
                  <a:srgbClr val="475569"/>
                </a:solidFill>
                <a:latin typeface="Arial"/>
              </a:rPr>
              <a:t>serialised</a:t>
            </a:r>
            <a:r>
              <a:rPr sz="1000" dirty="0">
                <a:solidFill>
                  <a:srgbClr val="475569"/>
                </a:solidFill>
                <a:latin typeface="Arial"/>
              </a:rPr>
              <a:t> predictor script (predict.py) for clinical triage screening [87, 89].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535" y="1188720"/>
            <a:ext cx="5394960" cy="21945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2415" y="128016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66534"/>
                </a:solidFill>
                <a:latin typeface="Arial"/>
              </a:rPr>
              <a:t>SUSTAINABLE DEVELOPMENT GOALS (SDGs)</a:t>
            </a:r>
          </a:p>
          <a:p>
            <a:r>
              <a:rPr sz="1050" b="1">
                <a:solidFill>
                  <a:srgbClr val="166534"/>
                </a:solidFill>
                <a:latin typeface="Arial"/>
              </a:rPr>
              <a:t>SDG 3: Good Health and Well-being</a:t>
            </a:r>
            <a:br/>
            <a:br/>
            <a:r>
              <a:rPr sz="1050">
                <a:solidFill>
                  <a:srgbClr val="0F172A"/>
                </a:solidFill>
                <a:latin typeface="Arial"/>
              </a:rPr>
              <a:t>Sub-target 3.4: By 2030, reduce by one third premature mortality from non-communicable diseases through prevention and treatment and promote mental health and well-being.</a:t>
            </a:r>
            <a:br/>
            <a:br/>
            <a:r>
              <a:rPr sz="1050" b="1">
                <a:solidFill>
                  <a:srgbClr val="166534"/>
                </a:solidFill>
                <a:latin typeface="Arial"/>
              </a:rPr>
              <a:t>Project Contribution: Establishes a highly accessible, objective, low-cost screening pipeline using front-facing wearable EEG headsets (6 electrodes) to support population-scale early screening [8, 103, 104].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9535" y="3657600"/>
            <a:ext cx="53949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22415" y="3749039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EXPECTED OUTCOMES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0F172A"/>
                </a:solidFill>
                <a:latin typeface="Arial"/>
              </a:rPr>
              <a:t>• Scopus Conference/Journal Submission of the peer-reviewed 15-page specification.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0F172A"/>
                </a:solidFill>
                <a:latin typeface="Arial"/>
              </a:rPr>
              <a:t>• Fully operational three-class screening model clearing the 0.6267 hardware baseline.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0F172A"/>
                </a:solidFill>
                <a:latin typeface="Arial"/>
              </a:rPr>
              <a:t>• Validated device-disjoint transfer benchmarks (MODMA &lt;-&gt; Mumtaz).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0F172A"/>
                </a:solidFill>
                <a:latin typeface="Arial"/>
              </a:rPr>
              <a:t>• Open-source command-line tool for front-end EEG triage and decision-support.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0" y="365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F766E"/>
                </a:solidFill>
                <a:latin typeface="Arial"/>
              </a:rPr>
              <a:t>BCSE497J - Project -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Georgia"/>
              </a:rPr>
              <a:t>Framework / System Architecture Block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7295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Arial"/>
              </a:rPr>
              <a:t>22-08-2026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379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Arial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Arial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475569"/>
                </a:solidFill>
                <a:latin typeface="Arial"/>
              </a:rPr>
              <a:t>Functional architecture of the proposed Protocol-Gated Dual-Head Classifier (Gated on Acquisition Metadata)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22860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F766E"/>
                </a:solidFill>
                <a:latin typeface="Arial"/>
              </a:rPr>
              <a:t>INPUT EEG DATA</a:t>
            </a:r>
            <a:br/>
            <a:br/>
            <a:r>
              <a:rPr sz="1050">
                <a:solidFill>
                  <a:srgbClr val="0F172A"/>
                </a:solidFill>
                <a:latin typeface="Arial"/>
              </a:rPr>
              <a:t>[6 Channels × 512 Samples]</a:t>
            </a:r>
            <a:br/>
            <a:r>
              <a:rPr sz="1050">
                <a:solidFill>
                  <a:srgbClr val="0F172A"/>
                </a:solidFill>
                <a:latin typeface="Arial"/>
              </a:rPr>
              <a:t>(4.0s @ 128 Hz)</a:t>
            </a:r>
            <a:br/>
            <a:r>
              <a:rPr sz="1050">
                <a:solidFill>
                  <a:srgbClr val="0F172A"/>
                </a:solidFill>
                <a:latin typeface="Arial"/>
              </a:rPr>
              <a:t>Frontal Projection</a:t>
            </a:r>
            <a:br/>
            <a:r>
              <a:rPr sz="1050">
                <a:solidFill>
                  <a:srgbClr val="0F172A"/>
                </a:solidFill>
                <a:latin typeface="Arial"/>
              </a:rPr>
              <a:t>Fp1, Fp2, F7, F3, F4, F8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834640" y="2651760"/>
            <a:ext cx="457200" cy="457200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383280" y="201168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210312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F766E"/>
                </a:solidFill>
                <a:latin typeface="Arial"/>
              </a:rPr>
              <a:t>SHARED BACKBONE</a:t>
            </a:r>
            <a:br/>
            <a:br/>
            <a:r>
              <a:rPr sz="1050">
                <a:solidFill>
                  <a:srgbClr val="0F172A"/>
                </a:solidFill>
                <a:latin typeface="Arial"/>
              </a:rPr>
              <a:t>EEGNet CNN Trunk</a:t>
            </a:r>
            <a:br/>
            <a:r>
              <a:rPr sz="1050">
                <a:solidFill>
                  <a:srgbClr val="0F172A"/>
                </a:solidFill>
                <a:latin typeface="Arial"/>
              </a:rPr>
              <a:t>(1,200 Parameters)</a:t>
            </a:r>
            <a:br/>
            <a:r>
              <a:rPr sz="1050">
                <a:solidFill>
                  <a:srgbClr val="0F172A"/>
                </a:solidFill>
                <a:latin typeface="Arial"/>
              </a:rPr>
              <a:t>Produces 256-D</a:t>
            </a:r>
            <a:br/>
            <a:r>
              <a:rPr sz="1050">
                <a:solidFill>
                  <a:srgbClr val="0F172A"/>
                </a:solidFill>
                <a:latin typeface="Arial"/>
              </a:rPr>
              <a:t>Latent Feature</a:t>
            </a:r>
            <a:br/>
            <a:r>
              <a:rPr sz="1050">
                <a:solidFill>
                  <a:srgbClr val="0F172A"/>
                </a:solidFill>
                <a:latin typeface="Arial"/>
              </a:rPr>
              <a:t>Embedding Space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35040" y="2651760"/>
            <a:ext cx="457200" cy="457200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0" y="2011680"/>
            <a:ext cx="20116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21031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F172A"/>
                </a:solidFill>
                <a:latin typeface="Arial"/>
              </a:rPr>
              <a:t>PROTOCOL GATE</a:t>
            </a:r>
            <a:br/>
            <a:br/>
            <a:r>
              <a:rPr sz="1050">
                <a:solidFill>
                  <a:srgbClr val="0F172A"/>
                </a:solidFill>
                <a:latin typeface="Arial"/>
              </a:rPr>
              <a:t>Reads 1-Bit Tag</a:t>
            </a:r>
            <a:br/>
            <a:r>
              <a:rPr sz="1050">
                <a:solidFill>
                  <a:srgbClr val="0F172A"/>
                </a:solidFill>
                <a:latin typeface="Arial"/>
              </a:rPr>
              <a:t>[Resting vs. Task]</a:t>
            </a:r>
            <a:br/>
            <a:r>
              <a:rPr sz="1050">
                <a:solidFill>
                  <a:srgbClr val="0F172A"/>
                </a:solidFill>
                <a:latin typeface="Arial"/>
              </a:rPr>
              <a:t>(Acquisition metadata</a:t>
            </a:r>
            <a:br/>
            <a:r>
              <a:rPr sz="1050">
                <a:solidFill>
                  <a:srgbClr val="0F172A"/>
                </a:solidFill>
                <a:latin typeface="Arial"/>
              </a:rPr>
              <a:t>known before</a:t>
            </a:r>
            <a:br/>
            <a:r>
              <a:rPr sz="1050">
                <a:solidFill>
                  <a:srgbClr val="0F172A"/>
                </a:solidFill>
                <a:latin typeface="Arial"/>
              </a:rPr>
              <a:t>recording)</a:t>
            </a:r>
          </a:p>
        </p:txBody>
      </p:sp>
      <p:sp>
        <p:nvSpPr>
          <p:cNvPr id="17" name="Up Arrow 16"/>
          <p:cNvSpPr/>
          <p:nvPr/>
        </p:nvSpPr>
        <p:spPr>
          <a:xfrm>
            <a:off x="8686800" y="1828800"/>
            <a:ext cx="365760" cy="365760"/>
          </a:xfrm>
          <a:prstGeom prst="up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own Arrow 17"/>
          <p:cNvSpPr/>
          <p:nvPr/>
        </p:nvSpPr>
        <p:spPr>
          <a:xfrm>
            <a:off x="8686800" y="3291840"/>
            <a:ext cx="365760" cy="365760"/>
          </a:xfrm>
          <a:prstGeom prst="down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144000" y="1463040"/>
            <a:ext cx="25603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766E"/>
                </a:solidFill>
                <a:latin typeface="Arial"/>
              </a:rPr>
              <a:t>Depression Head</a:t>
            </a:r>
            <a:br/>
            <a:r>
              <a:rPr sz="1000">
                <a:solidFill>
                  <a:srgbClr val="0F172A"/>
                </a:solidFill>
                <a:latin typeface="Arial"/>
              </a:rPr>
              <a:t>(Resting-State Specialist)</a:t>
            </a:r>
            <a:br/>
            <a:r>
              <a:rPr sz="1000">
                <a:solidFill>
                  <a:srgbClr val="0F172A"/>
                </a:solidFill>
                <a:latin typeface="Arial"/>
              </a:rPr>
              <a:t>Threshold p_dep &gt;= theta_dep</a:t>
            </a:r>
            <a:br/>
            <a:r>
              <a:rPr sz="1000">
                <a:solidFill>
                  <a:srgbClr val="0F172A"/>
                </a:solidFill>
                <a:latin typeface="Arial"/>
              </a:rPr>
              <a:t>Outputs: Depression | Healthy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926080"/>
            <a:ext cx="25603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0" y="30175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766E"/>
                </a:solidFill>
                <a:latin typeface="Arial"/>
              </a:rPr>
              <a:t>Stress Head</a:t>
            </a:r>
            <a:br/>
            <a:r>
              <a:rPr sz="1000">
                <a:solidFill>
                  <a:srgbClr val="0F172A"/>
                </a:solidFill>
                <a:latin typeface="Arial"/>
              </a:rPr>
              <a:t>(Cognitive Task Specialist)</a:t>
            </a:r>
            <a:br/>
            <a:r>
              <a:rPr sz="1000">
                <a:solidFill>
                  <a:srgbClr val="0F172A"/>
                </a:solidFill>
                <a:latin typeface="Arial"/>
              </a:rPr>
              <a:t>Threshold p_str &gt;= theta_str</a:t>
            </a:r>
            <a:br/>
            <a:r>
              <a:rPr sz="1000">
                <a:solidFill>
                  <a:srgbClr val="0F172A"/>
                </a:solidFill>
                <a:latin typeface="Arial"/>
              </a:rPr>
              <a:t>Outputs: Stress | Healthy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389120"/>
            <a:ext cx="11277295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48056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ARCHITECTURAL PRINCIPLES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Masked Multi-Task Loss: Every segment is assigned targets (y_dep, y_str) in {-1, 0, 1}^2. A value of -1 masks unsupervisable channels, zeroing loss gradients from irrelevant tasks. Trunk consumes all data simultaneously without gradient leakage [23, 110].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Refusal of Flat Softmax: Competing models map targets to a single nominal softmax. However, because no single corpus contains all classes, this forces hardware classification. Protocol-gated decoupling completely bypasses this risk [110, 111].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0" y="365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F766E"/>
                </a:solidFill>
                <a:latin typeface="Arial"/>
              </a:rPr>
              <a:t>BCSE497J - Project -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Georgia"/>
              </a:rPr>
              <a:t>System Requirements: Functional (FR1 - FR14)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7295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Arial"/>
              </a:rPr>
              <a:t>22-08-2026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379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Arial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Arial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347472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3200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DATA PIPELINE (FR1 - FR5)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FR1:</a:t>
            </a:r>
            <a:r>
              <a:rPr sz="1000">
                <a:solidFill>
                  <a:srgbClr val="475569"/>
                </a:solidFill>
                <a:latin typeface="Arial"/>
              </a:rPr>
              <a:t> Multi-corpus Ingestion - Read raw EDF, MAT, CSV, NPY, recovering subject IDs cleanly from filenames [95].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FR2:</a:t>
            </a:r>
            <a:r>
              <a:rPr sz="1000">
                <a:solidFill>
                  <a:srgbClr val="475569"/>
                </a:solidFill>
                <a:latin typeface="Arial"/>
              </a:rPr>
              <a:t> Channel &amp; Rate Harmonisation - Standardise channels to 6 frontal electrodes (Fp1, Fp2, F7, F3, F4, F8) at 128 Hz [96].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FR3:</a:t>
            </a:r>
            <a:r>
              <a:rPr sz="1000">
                <a:solidFill>
                  <a:srgbClr val="475569"/>
                </a:solidFill>
                <a:latin typeface="Arial"/>
              </a:rPr>
              <a:t> Bandpass &amp; Notch Filter - Apply zero-phase Butterworth bandpass (0.5-45 Hz, order 8) and 50 Hz notch [96].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FR4:</a:t>
            </a:r>
            <a:r>
              <a:rPr sz="1000">
                <a:solidFill>
                  <a:srgbClr val="475569"/>
                </a:solidFill>
                <a:latin typeface="Arial"/>
              </a:rPr>
              <a:t> Segment Windowing - Segment EEG into 4s windows (512 samples) with 50% overlap [96].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FR5:</a:t>
            </a:r>
            <a:r>
              <a:rPr sz="1000">
                <a:solidFill>
                  <a:srgbClr val="475569"/>
                </a:solidFill>
                <a:latin typeface="Arial"/>
              </a:rPr>
              <a:t> Variance Gating - Rejects electrode artifact spikes with variance &gt; k*median (k=10.0) [96].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88720"/>
            <a:ext cx="347472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371600"/>
            <a:ext cx="3200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MODELING &amp; FEATURES (FR6 - FR9)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FR6:</a:t>
            </a:r>
            <a:r>
              <a:rPr sz="1000">
                <a:solidFill>
                  <a:srgbClr val="475569"/>
                </a:solidFill>
                <a:latin typeface="Arial"/>
              </a:rPr>
              <a:t> Feature Extraction - Support two featuresets: v1 81-col (RBP, DE, FAA, Spectral Entropy) and v2 273-col (PLV, Hjorth, 1/f slope) [96].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FR7:</a:t>
            </a:r>
            <a:r>
              <a:rPr sz="1000">
                <a:solidFill>
                  <a:srgbClr val="475569"/>
                </a:solidFill>
                <a:latin typeface="Arial"/>
              </a:rPr>
              <a:t> Masked Labeling - Label segments with masked binary sentinel (-1) for invalid supervision tasks [97].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FR8:</a:t>
            </a:r>
            <a:r>
              <a:rPr sz="1000">
                <a:solidFill>
                  <a:srgbClr val="475569"/>
                </a:solidFill>
                <a:latin typeface="Arial"/>
              </a:rPr>
              <a:t> Model Training - Train SVM, RF, XGBoost, and deep networks (EEGNet, TSception, LSTM) with GRL [97].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FR9:</a:t>
            </a:r>
            <a:r>
              <a:rPr sz="1000">
                <a:solidFill>
                  <a:srgbClr val="475569"/>
                </a:solidFill>
                <a:latin typeface="Arial"/>
              </a:rPr>
              <a:t> Gated Inference - Route raw EEG through protocol-gated heads (Resting -&gt; MDD; Task -&gt; Stress) [97].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88720"/>
            <a:ext cx="347472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371600"/>
            <a:ext cx="3200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RIGOR &amp; DEPLOYMENT (FR10 - FR14)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FR10:</a:t>
            </a:r>
            <a:r>
              <a:rPr sz="1000">
                <a:solidFill>
                  <a:srgbClr val="475569"/>
                </a:solidFill>
                <a:latin typeface="Arial"/>
              </a:rPr>
              <a:t> Subject-Grouped splits - Enforce subject-disjoint training folds to prevent intra-subject temporal leakage [97].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FR11:</a:t>
            </a:r>
            <a:r>
              <a:rPr sz="1000">
                <a:solidFill>
                  <a:srgbClr val="475569"/>
                </a:solidFill>
                <a:latin typeface="Arial"/>
              </a:rPr>
              <a:t> Baselines &amp; Controls - Report every accuracy alongside majority, device shortcut, and permutation null [97].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FR12:</a:t>
            </a:r>
            <a:r>
              <a:rPr sz="1000">
                <a:solidFill>
                  <a:srgbClr val="475569"/>
                </a:solidFill>
                <a:latin typeface="Arial"/>
              </a:rPr>
              <a:t> Threshold Tuning - Optimize balanced accuracy cutoffs on inner validation, transferring as rank quantiles [97].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FR13:</a:t>
            </a:r>
            <a:r>
              <a:rPr sz="1000">
                <a:solidFill>
                  <a:srgbClr val="475569"/>
                </a:solidFill>
                <a:latin typeface="Arial"/>
              </a:rPr>
              <a:t> JSON Result Persistence - Output OOF predictions and JSON parameters for strict auditable verification [97].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FR14:</a:t>
            </a:r>
            <a:r>
              <a:rPr sz="1000">
                <a:solidFill>
                  <a:srgbClr val="475569"/>
                </a:solidFill>
                <a:latin typeface="Arial"/>
              </a:rPr>
              <a:t> Deployable predictor - CLI prediction script accepting (6, N) arrays, executing serialised models [97].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0" y="365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F766E"/>
                </a:solidFill>
                <a:latin typeface="Arial"/>
              </a:rPr>
              <a:t>BCSE497J - Project -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Georgia"/>
              </a:rPr>
              <a:t>System Modules &amp; Technical Specifications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7295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Arial"/>
              </a:rPr>
              <a:t>22-08-2026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379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Arial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Arial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39496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CORE FUNCTIONAL MODULES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Module 1: Ingestion &amp; Invariant Check - </a:t>
            </a:r>
            <a:r>
              <a:rPr sz="1000">
                <a:solidFill>
                  <a:srgbClr val="475569"/>
                </a:solidFill>
                <a:latin typeface="Arial"/>
              </a:rPr>
              <a:t>Reads MAT, EDF, CSV. Parses subject IDs with 100% accuracy and asserts strict zero-NaN tolerance on matrix output [96, 116].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Module 2: Preservative Preprocessing - </a:t>
            </a:r>
            <a:r>
              <a:rPr sz="1000">
                <a:solidFill>
                  <a:srgbClr val="475569"/>
                </a:solidFill>
                <a:latin typeface="Arial"/>
              </a:rPr>
              <a:t>Applies 0.5-45Hz bandpass and notch. Executes global z-scoring across the (6, 512) matrix, preserving absolute Frontal Alpha Asymmetry ratios [67, 96].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Module 3: Dual-Generation Feature Engine - </a:t>
            </a:r>
            <a:r>
              <a:rPr sz="1000">
                <a:solidFill>
                  <a:srgbClr val="475569"/>
                </a:solidFill>
                <a:latin typeface="Arial"/>
              </a:rPr>
              <a:t>Computes Handcrafted v1 (81-D) spectral, v2 (273-D) temporal (Hjorth, slope), and Riemannian tangent space projections [72, 96, 97].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Module 4: Masked Multi-Task Model Engine - </a:t>
            </a:r>
            <a:r>
              <a:rPr sz="1000">
                <a:solidFill>
                  <a:srgbClr val="475569"/>
                </a:solidFill>
                <a:latin typeface="Arial"/>
              </a:rPr>
              <a:t>Trains classical and deep models using a masked BCE loss, zeroing out irrelevant task gradients from disjoint corpora [97, 110].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Module 5: Prediction &amp; Serialized Deployment - </a:t>
            </a:r>
            <a:r>
              <a:rPr sz="1000">
                <a:solidFill>
                  <a:srgbClr val="475569"/>
                </a:solidFill>
                <a:latin typeface="Arial"/>
              </a:rPr>
              <a:t>Aggregates window-level probabilities and applies rank-quantile decision thresholds for clinical screening decision-support [97, 117].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535" y="1188720"/>
            <a:ext cx="539496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2415" y="128016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TECHNICAL SOFTWARE ENVIRONMENT</a:t>
            </a:r>
          </a:p>
          <a:p>
            <a:pPr>
              <a:spcAft>
                <a:spcPts val="1400"/>
              </a:spcAft>
            </a:pPr>
            <a:r>
              <a:rPr sz="1100" i="1">
                <a:solidFill>
                  <a:srgbClr val="475569"/>
                </a:solidFill>
                <a:latin typeface="Arial"/>
              </a:rPr>
              <a:t>To guarantee NFR1 (strict reproducibility), library versions are strictly pinned. In particular, scikit-learn is pinned to 1.9.0 to eliminate version-dependent GroupKFold tie-breaking discrepancies [107, 108].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2926080"/>
          <a:ext cx="52120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766E"/>
                          </a:solidFill>
                          <a:latin typeface="Arial"/>
                        </a:rPr>
                        <a:t>Operating System</a:t>
                      </a:r>
                    </a:p>
                  </a:txBody>
                  <a:tcPr marL="63500" marR="6350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Linux (Arch), kernel 7.2.x / CUDA Docker</a:t>
                      </a:r>
                    </a:p>
                  </a:txBody>
                  <a:tcPr marL="63500" marR="63500" marT="38100" marB="381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766E"/>
                          </a:solidFill>
                          <a:latin typeface="Arial"/>
                        </a:rPr>
                        <a:t>Programming Language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Python 3.11+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766E"/>
                          </a:solidFill>
                          <a:latin typeface="Arial"/>
                        </a:rPr>
                        <a:t>Numerical &amp; Data Stack</a:t>
                      </a:r>
                    </a:p>
                  </a:txBody>
                  <a:tcPr marL="63500" marR="6350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NumPy 2.4.6, pandas, SciPy, h5py</a:t>
                      </a:r>
                    </a:p>
                  </a:txBody>
                  <a:tcPr marL="63500" marR="63500" marT="38100" marB="381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766E"/>
                          </a:solidFill>
                          <a:latin typeface="Arial"/>
                        </a:rPr>
                        <a:t>Machine Learning Stack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scikit-learn 1.9.0 (pinned), XGBoost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766E"/>
                          </a:solidFill>
                          <a:latin typeface="Arial"/>
                        </a:rPr>
                        <a:t>Deep Learning Stack</a:t>
                      </a:r>
                    </a:p>
                  </a:txBody>
                  <a:tcPr marL="63500" marR="6350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TensorFlow 2.21.0 (Keras 3.14), PyTorch 2.13</a:t>
                      </a:r>
                    </a:p>
                  </a:txBody>
                  <a:tcPr marL="63500" marR="63500" marT="38100" marB="381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766E"/>
                          </a:solidFill>
                          <a:latin typeface="Arial"/>
                        </a:rPr>
                        <a:t>EEG Signal Libraries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MNE-Python, pyriemann 0.12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0" y="365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F766E"/>
                </a:solidFill>
                <a:latin typeface="Arial"/>
              </a:rPr>
              <a:t>BCSE497J - Project -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Georgia"/>
              </a:rPr>
              <a:t>Results: The Confounding Trap and Spurious Splits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7295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Arial"/>
              </a:rPr>
              <a:t>22-08-2026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379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Arial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Arial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394960" cy="48463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991B1B"/>
                </a:solidFill>
                <a:latin typeface="Arial"/>
              </a:rPr>
              <a:t>THE SPURIOUS SPLIT ILLUSION</a:t>
            </a:r>
          </a:p>
          <a:p>
            <a:pPr>
              <a:spcAft>
                <a:spcPts val="1200"/>
              </a:spcAft>
            </a:pPr>
            <a:r>
              <a:rPr sz="1100" i="1">
                <a:solidFill>
                  <a:srgbClr val="475569"/>
                </a:solidFill>
                <a:latin typeface="Arial"/>
              </a:rPr>
              <a:t>A simple model trained with a naive random split reports an inflated, near-perfect accuracy that fails completely in clinical deployment [15, 31, 32].</a:t>
            </a:r>
          </a:p>
          <a:p>
            <a:pPr>
              <a:spcBef>
                <a:spcPts val="130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The Leakage Mechanism: Overlapping 4.0-second windows from the same subject land on both sides of a random split fold. The model memorizes individual temporal/spatial skull impedance profiles, reporting inflated scores without learning any pathology [31, 32].</a:t>
            </a:r>
            <a:br/>
            <a:br/>
            <a:r>
              <a:rPr sz="1050" b="1">
                <a:solidFill>
                  <a:srgbClr val="0F172A"/>
                </a:solidFill>
                <a:latin typeface="Arial"/>
              </a:rPr>
              <a:t>• Deep Model Inflation: Single-split variance adds an average of +0.21 AUC inflation to deep models, while classical models remain stable [32].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67128"/>
            <a:ext cx="228600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212848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0F172A"/>
                </a:solidFill>
                <a:latin typeface="Arial"/>
              </a:rPr>
              <a:t>RANDOM SPLIT ACCURACY</a:t>
            </a:r>
            <a:br>
              <a:rPr dirty="0"/>
            </a:br>
            <a:br>
              <a:rPr dirty="0"/>
            </a:br>
            <a:r>
              <a:rPr sz="2200" b="1" dirty="0">
                <a:solidFill>
                  <a:srgbClr val="991B1B"/>
                </a:solidFill>
                <a:latin typeface="Arial"/>
              </a:rPr>
              <a:t>0.9393</a:t>
            </a:r>
            <a:br>
              <a:rPr dirty="0"/>
            </a:br>
            <a:br>
              <a:rPr dirty="0"/>
            </a:br>
            <a:r>
              <a:rPr sz="900" dirty="0">
                <a:solidFill>
                  <a:srgbClr val="0F172A"/>
                </a:solidFill>
                <a:latin typeface="Arial"/>
              </a:rPr>
              <a:t>Spurious Memorization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2164080"/>
            <a:ext cx="228600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37560" y="220980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0F172A"/>
                </a:solidFill>
                <a:latin typeface="Arial"/>
              </a:rPr>
              <a:t>SUBJECT-GROUPED CV</a:t>
            </a:r>
            <a:br>
              <a:rPr dirty="0"/>
            </a:br>
            <a:br>
              <a:rPr dirty="0"/>
            </a:br>
            <a:r>
              <a:rPr sz="2200" b="1" dirty="0">
                <a:solidFill>
                  <a:srgbClr val="166534"/>
                </a:solidFill>
                <a:latin typeface="Arial"/>
              </a:rPr>
              <a:t>0.6256</a:t>
            </a:r>
            <a:br>
              <a:rPr dirty="0"/>
            </a:br>
            <a:br>
              <a:rPr dirty="0"/>
            </a:br>
            <a:r>
              <a:rPr sz="900" dirty="0">
                <a:solidFill>
                  <a:srgbClr val="0F172A"/>
                </a:solidFill>
                <a:latin typeface="Arial"/>
              </a:rPr>
              <a:t>Honest Generalization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9535" y="1188720"/>
            <a:ext cx="5394960" cy="48463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22415" y="128016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 dirty="0">
                <a:solidFill>
                  <a:srgbClr val="991B1B"/>
                </a:solidFill>
                <a:latin typeface="Arial"/>
              </a:rPr>
              <a:t>THE HARDWARE CONFOUND TRAP</a:t>
            </a:r>
          </a:p>
          <a:p>
            <a:pPr>
              <a:spcAft>
                <a:spcPts val="1200"/>
              </a:spcAft>
            </a:pPr>
            <a:r>
              <a:rPr sz="1100" i="1" dirty="0">
                <a:solidFill>
                  <a:srgbClr val="475569"/>
                </a:solidFill>
                <a:latin typeface="Arial"/>
              </a:rPr>
              <a:t>Because no public corpus contains more than two target classes, naive dataset pooling silently equates diagnostic classes with recording devices [57, 83].</a:t>
            </a:r>
          </a:p>
          <a:p>
            <a:pPr>
              <a:spcBef>
                <a:spcPts val="13000"/>
              </a:spcBef>
            </a:pPr>
            <a:r>
              <a:rPr sz="1050" b="1" dirty="0">
                <a:solidFill>
                  <a:srgbClr val="0F172A"/>
                </a:solidFill>
                <a:latin typeface="Arial"/>
              </a:rPr>
              <a:t>• The Confound Mechanism: All 3,599 depression segments belong to MODMA; all 5,497 stress segments belong to SAM40. A flat three-class model learns the amplifier noise spectral signatures, scoring 0.6256 accuracy (SVM) which trails the non-EEG device-only ID shortcut of 0.6267 [13, 28].</a:t>
            </a:r>
            <a:br>
              <a:rPr dirty="0"/>
            </a:br>
            <a:br>
              <a:rPr dirty="0"/>
            </a:br>
            <a:r>
              <a:rPr sz="1050" b="1" dirty="0">
                <a:solidFill>
                  <a:srgbClr val="0F172A"/>
                </a:solidFill>
                <a:latin typeface="Arial"/>
              </a:rPr>
              <a:t>• Proof via Covariance Re-centering: Removing device-specific covariance manifolds via Riemannian re-centering collapses SVM and deep model accuracies to 0.3255 (pure chance), proving that flat models contain no generalizable neurophysiology [13, 29].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13855" y="2240280"/>
            <a:ext cx="228600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59575" y="228600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0F172A"/>
                </a:solidFill>
                <a:latin typeface="Arial"/>
              </a:rPr>
              <a:t>DEVICE-ONLY SHORTCUT</a:t>
            </a:r>
            <a:br>
              <a:rPr dirty="0"/>
            </a:br>
            <a:br>
              <a:rPr dirty="0"/>
            </a:br>
            <a:r>
              <a:rPr sz="2200" b="1" dirty="0">
                <a:solidFill>
                  <a:srgbClr val="991B1B"/>
                </a:solidFill>
                <a:latin typeface="Arial"/>
              </a:rPr>
              <a:t>0.6267</a:t>
            </a:r>
            <a:br>
              <a:rPr dirty="0"/>
            </a:br>
            <a:br>
              <a:rPr dirty="0"/>
            </a:br>
            <a:r>
              <a:rPr sz="900" dirty="0">
                <a:solidFill>
                  <a:srgbClr val="0F172A"/>
                </a:solidFill>
                <a:latin typeface="Arial"/>
              </a:rPr>
              <a:t>Zero Neurophysiology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74175" y="2232660"/>
            <a:ext cx="228600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19895" y="22783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0F172A"/>
                </a:solidFill>
                <a:latin typeface="Arial"/>
              </a:rPr>
              <a:t>RIEMANNIAN COV COLLAPSE</a:t>
            </a:r>
            <a:br>
              <a:rPr dirty="0"/>
            </a:br>
            <a:br>
              <a:rPr dirty="0"/>
            </a:br>
            <a:r>
              <a:rPr sz="2200" b="1" dirty="0">
                <a:solidFill>
                  <a:srgbClr val="991B1B"/>
                </a:solidFill>
                <a:latin typeface="Arial"/>
              </a:rPr>
              <a:t>0.3255</a:t>
            </a:r>
            <a:br>
              <a:rPr dirty="0"/>
            </a:br>
            <a:br>
              <a:rPr dirty="0"/>
            </a:br>
            <a:r>
              <a:rPr sz="900" dirty="0">
                <a:solidFill>
                  <a:srgbClr val="0F172A"/>
                </a:solidFill>
                <a:latin typeface="Arial"/>
              </a:rPr>
              <a:t>Pure Chance (Chance=0.33)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0" y="365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F766E"/>
                </a:solidFill>
                <a:latin typeface="Arial"/>
              </a:rPr>
              <a:t>BCSE497J - Project -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Georgia"/>
              </a:rPr>
              <a:t>Results: Hierarchical Router Clears the Shortcut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7295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Arial"/>
              </a:rPr>
              <a:t>22-08-2026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379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Arial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Arial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3200" y="1122680"/>
            <a:ext cx="5648960" cy="4912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 dirty="0">
                <a:solidFill>
                  <a:srgbClr val="0F766E"/>
                </a:solidFill>
                <a:latin typeface="Arial"/>
              </a:rPr>
              <a:t>THE TWO-STAGE HIERARCHICAL MODEL</a:t>
            </a:r>
          </a:p>
          <a:p>
            <a:pPr>
              <a:spcAft>
                <a:spcPts val="1200"/>
              </a:spcAft>
            </a:pPr>
            <a:r>
              <a:rPr sz="1100" i="1" dirty="0">
                <a:solidFill>
                  <a:srgbClr val="475569"/>
                </a:solidFill>
                <a:latin typeface="Arial"/>
              </a:rPr>
              <a:t>Since the protocol-gated dual-head model is selected via external metadata (having no flat 3-class score), we built an autonomous hierarchical counterpart. It predicts the routing gate instead of reading it, providing a direct 3-class baseline [25, 112].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dirty="0"/>
              <a:t>• </a:t>
            </a:r>
            <a:r>
              <a:rPr sz="1050" b="1" dirty="0">
                <a:solidFill>
                  <a:srgbClr val="0F172A"/>
                </a:solidFill>
                <a:latin typeface="Arial"/>
              </a:rPr>
              <a:t>Stage 1 Router (v2 Features):</a:t>
            </a:r>
            <a:r>
              <a:rPr sz="1050" dirty="0">
                <a:solidFill>
                  <a:srgbClr val="475569"/>
                </a:solidFill>
                <a:latin typeface="Arial"/>
              </a:rPr>
              <a:t> Uses the comprehensive 273-column </a:t>
            </a:r>
            <a:r>
              <a:rPr sz="1050" dirty="0" err="1">
                <a:solidFill>
                  <a:srgbClr val="475569"/>
                </a:solidFill>
                <a:latin typeface="Arial"/>
              </a:rPr>
              <a:t>featureset</a:t>
            </a:r>
            <a:r>
              <a:rPr sz="1050" dirty="0">
                <a:solidFill>
                  <a:srgbClr val="475569"/>
                </a:solidFill>
                <a:latin typeface="Arial"/>
              </a:rPr>
              <a:t> to classify recording corpus / hardware protocol, achieving a routing gate accuracy of 0.9703 [25, 113].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dirty="0"/>
              <a:t>• </a:t>
            </a:r>
            <a:r>
              <a:rPr sz="1050" b="1" dirty="0">
                <a:solidFill>
                  <a:srgbClr val="0F172A"/>
                </a:solidFill>
                <a:latin typeface="Arial"/>
              </a:rPr>
              <a:t>Stage 2 Specialists (v1 Features):</a:t>
            </a:r>
            <a:r>
              <a:rPr sz="1050" dirty="0">
                <a:solidFill>
                  <a:srgbClr val="475569"/>
                </a:solidFill>
                <a:latin typeface="Arial"/>
              </a:rPr>
              <a:t> Restricts input to the 81-column </a:t>
            </a:r>
            <a:r>
              <a:rPr sz="1050" dirty="0" err="1">
                <a:solidFill>
                  <a:srgbClr val="475569"/>
                </a:solidFill>
                <a:latin typeface="Arial"/>
              </a:rPr>
              <a:t>featureset</a:t>
            </a:r>
            <a:r>
              <a:rPr sz="1050" dirty="0">
                <a:solidFill>
                  <a:srgbClr val="475569"/>
                </a:solidFill>
                <a:latin typeface="Arial"/>
              </a:rPr>
              <a:t> to prevent overfitting on small subject cohorts, classifying pathology within the routed domain [25, 114].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dirty="0"/>
              <a:t>• </a:t>
            </a:r>
            <a:r>
              <a:rPr sz="1050" b="1" dirty="0">
                <a:solidFill>
                  <a:srgbClr val="0F172A"/>
                </a:solidFill>
                <a:latin typeface="Arial"/>
              </a:rPr>
              <a:t>Dynamic Guard Rails:</a:t>
            </a:r>
            <a:r>
              <a:rPr sz="1050" dirty="0">
                <a:solidFill>
                  <a:srgbClr val="475569"/>
                </a:solidFill>
                <a:latin typeface="Arial"/>
              </a:rPr>
              <a:t> Specialist heads deploy only if they outperform the inner cross-validation majority class baseline; otherwise, they fall back to corpus majority [25, 113, 114].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dirty="0"/>
              <a:t>• </a:t>
            </a:r>
            <a:r>
              <a:rPr sz="1050" b="1" dirty="0">
                <a:solidFill>
                  <a:srgbClr val="0F172A"/>
                </a:solidFill>
                <a:latin typeface="Arial"/>
              </a:rPr>
              <a:t>The Breakthrough Score:</a:t>
            </a:r>
            <a:r>
              <a:rPr sz="1050" dirty="0">
                <a:solidFill>
                  <a:srgbClr val="475569"/>
                </a:solidFill>
                <a:latin typeface="Arial"/>
              </a:rPr>
              <a:t> Achieves </a:t>
            </a:r>
            <a:r>
              <a:rPr sz="1050" b="1" dirty="0">
                <a:solidFill>
                  <a:srgbClr val="166534"/>
                </a:solidFill>
                <a:latin typeface="Arial"/>
              </a:rPr>
              <a:t>0.6820</a:t>
            </a:r>
            <a:r>
              <a:rPr sz="1050" dirty="0">
                <a:solidFill>
                  <a:srgbClr val="475569"/>
                </a:solidFill>
                <a:latin typeface="Arial"/>
              </a:rPr>
              <a:t> three-class accuracy, representing the ONLY model of 36 evaluated architectures to clear the 0.6267 non-EEG device-shortcut floor (+0.0553) [26].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5535" y="1148080"/>
            <a:ext cx="5648960" cy="4886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2415" y="128016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3-CLASS ACCURACY COMPARISON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1920240"/>
          <a:ext cx="521208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577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Evaluated Architecture</a:t>
                      </a:r>
                    </a:p>
                  </a:txBody>
                  <a:tcPr marL="63500" marR="635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3-Ch Acc</a:t>
                      </a:r>
                    </a:p>
                  </a:txBody>
                  <a:tcPr marL="63500" marR="635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vs. Shortcut</a:t>
                      </a:r>
                    </a:p>
                  </a:txBody>
                  <a:tcPr marL="63500" marR="63500" marT="50800" marB="50800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Theoretical Chance Baseline</a:t>
                      </a: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0.3333</a:t>
                      </a: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-0.2934</a:t>
                      </a: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Majority Class Baseline (Always Healthy)</a:t>
                      </a:r>
                    </a:p>
                  </a:txBody>
                  <a:tcPr marL="63500" marR="635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0F172A"/>
                          </a:solidFill>
                          <a:latin typeface="Arial"/>
                        </a:rPr>
                        <a:t>0.4217</a:t>
                      </a:r>
                    </a:p>
                  </a:txBody>
                  <a:tcPr marL="63500" marR="635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-0.2050</a:t>
                      </a:r>
                    </a:p>
                  </a:txBody>
                  <a:tcPr marL="63500" marR="63500" marT="50800" marB="508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991B1B"/>
                          </a:solidFill>
                          <a:latin typeface="Arial"/>
                        </a:rPr>
                        <a:t>Device ID Shortcut (Non-EEG Floor)</a:t>
                      </a:r>
                    </a:p>
                  </a:txBody>
                  <a:tcPr marL="63500" marR="63500" marT="50800" marB="50800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991B1B"/>
                          </a:solidFill>
                          <a:latin typeface="Arial"/>
                        </a:rPr>
                        <a:t>0.6267</a:t>
                      </a:r>
                    </a:p>
                  </a:txBody>
                  <a:tcPr marL="63500" marR="63500" marT="50800" marB="50800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991B1B"/>
                          </a:solidFill>
                          <a:latin typeface="Arial"/>
                        </a:rPr>
                        <a:t>--</a:t>
                      </a:r>
                    </a:p>
                  </a:txBody>
                  <a:tcPr marL="63500" marR="63500" marT="50800" marB="50800"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Best Flat Model (RBF SVM on 81 Feat)</a:t>
                      </a:r>
                    </a:p>
                  </a:txBody>
                  <a:tcPr marL="63500" marR="635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0.6256</a:t>
                      </a:r>
                    </a:p>
                  </a:txBody>
                  <a:tcPr marL="63500" marR="635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-0.0011</a:t>
                      </a:r>
                    </a:p>
                  </a:txBody>
                  <a:tcPr marL="63500" marR="63500" marT="50800" marB="508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Hierarchical (v1 Router + v1 Specialist)</a:t>
                      </a: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0.6486</a:t>
                      </a: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+0.0219</a:t>
                      </a: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66534"/>
                          </a:solidFill>
                          <a:latin typeface="Arial"/>
                        </a:rPr>
                        <a:t>Hierarchical (v2 Router + v1 Specialist)</a:t>
                      </a:r>
                    </a:p>
                  </a:txBody>
                  <a:tcPr marL="63500" marR="63500" marT="50800" marB="50800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6534"/>
                          </a:solidFill>
                          <a:latin typeface="Arial"/>
                        </a:rPr>
                        <a:t>0.6820</a:t>
                      </a:r>
                    </a:p>
                  </a:txBody>
                  <a:tcPr marL="63500" marR="63500" marT="50800" marB="50800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166534"/>
                          </a:solidFill>
                          <a:latin typeface="Arial"/>
                        </a:rPr>
                        <a:t>+0.0553</a:t>
                      </a:r>
                    </a:p>
                  </a:txBody>
                  <a:tcPr marL="63500" marR="63500" marT="50800" marB="50800"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0" y="365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F766E"/>
                </a:solidFill>
                <a:latin typeface="Arial"/>
              </a:rPr>
              <a:t>BCSE497J - Project -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Georgia"/>
              </a:rPr>
              <a:t>Results: Cross-Device Clinical Generalization Bounds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7295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Arial"/>
              </a:rPr>
              <a:t>22-08-2026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379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Arial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Arial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4160" y="1122680"/>
            <a:ext cx="5588000" cy="49123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 dirty="0">
                <a:solidFill>
                  <a:srgbClr val="166534"/>
                </a:solidFill>
                <a:latin typeface="Arial"/>
              </a:rPr>
              <a:t>ROBUST DEPRESSION TRANSFER</a:t>
            </a:r>
          </a:p>
          <a:p>
            <a:pPr>
              <a:spcAft>
                <a:spcPts val="1200"/>
              </a:spcAft>
            </a:pPr>
            <a:r>
              <a:rPr sz="1100" i="1" dirty="0">
                <a:solidFill>
                  <a:srgbClr val="475569"/>
                </a:solidFill>
                <a:latin typeface="Arial"/>
              </a:rPr>
              <a:t>Our protocol-gated depression head demonstrates true physiological transfer across hardware and geographical populations [14, 33].</a:t>
            </a:r>
          </a:p>
          <a:p>
            <a:pPr>
              <a:spcBef>
                <a:spcPts val="13000"/>
              </a:spcBef>
            </a:pPr>
            <a:r>
              <a:rPr sz="1050" b="1" dirty="0">
                <a:solidFill>
                  <a:srgbClr val="0F172A"/>
                </a:solidFill>
                <a:latin typeface="Arial"/>
              </a:rPr>
              <a:t>• Robust Biological Generalization: Over two independent split draws, MODMA to Mumtaz scores 0.8675 and 0.8438 subject accuracy, which is massively above the permutation null. This is a highly defensible cross-device result surviving different amplifiers and country demographics [14, 33].</a:t>
            </a:r>
            <a:br>
              <a:rPr dirty="0"/>
            </a:br>
            <a:br>
              <a:rPr dirty="0"/>
            </a:br>
            <a:r>
              <a:rPr sz="1050" b="1" dirty="0">
                <a:solidFill>
                  <a:srgbClr val="0F172A"/>
                </a:solidFill>
                <a:latin typeface="Arial"/>
              </a:rPr>
              <a:t>• Reverse Viability: The reverse direction Mumtaz to MODMA yields 0.6638 and 0.6667, also clearing the permutation null threshold [14, 33].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228600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21945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F172A"/>
                </a:solidFill>
                <a:latin typeface="Arial"/>
              </a:rPr>
              <a:t>MODMA -&gt; MUMTAZ</a:t>
            </a:r>
            <a:br/>
            <a:br/>
            <a:r>
              <a:rPr sz="2000" b="1">
                <a:solidFill>
                  <a:srgbClr val="166534"/>
                </a:solidFill>
                <a:latin typeface="Arial"/>
              </a:rPr>
              <a:t>0.8675 / 0.8438</a:t>
            </a:r>
            <a:br/>
            <a:br/>
            <a:r>
              <a:rPr sz="900">
                <a:solidFill>
                  <a:srgbClr val="0F172A"/>
                </a:solidFill>
                <a:latin typeface="Arial"/>
              </a:rPr>
              <a:t>Null Threshold: 0.3998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2834640"/>
            <a:ext cx="228600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37560" y="2880360"/>
            <a:ext cx="21945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F172A"/>
                </a:solidFill>
                <a:latin typeface="Arial"/>
              </a:rPr>
              <a:t>MUMTAZ -&gt; MODMA</a:t>
            </a:r>
            <a:br/>
            <a:br/>
            <a:r>
              <a:rPr sz="2000" b="1">
                <a:solidFill>
                  <a:srgbClr val="166534"/>
                </a:solidFill>
                <a:latin typeface="Arial"/>
              </a:rPr>
              <a:t>0.6638 / 0.6667</a:t>
            </a:r>
            <a:br/>
            <a:br/>
            <a:r>
              <a:rPr sz="900">
                <a:solidFill>
                  <a:srgbClr val="0F172A"/>
                </a:solidFill>
                <a:latin typeface="Arial"/>
              </a:rPr>
              <a:t>Null Threshold: 0.5431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6000" y="1097280"/>
            <a:ext cx="5638495" cy="49377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22415" y="128016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 dirty="0">
                <a:solidFill>
                  <a:srgbClr val="991B1B"/>
                </a:solidFill>
                <a:latin typeface="Arial"/>
              </a:rPr>
              <a:t>INERT CROSS-DEVICE STRESS</a:t>
            </a:r>
          </a:p>
          <a:p>
            <a:pPr>
              <a:spcAft>
                <a:spcPts val="1200"/>
              </a:spcAft>
            </a:pPr>
            <a:r>
              <a:rPr sz="1100" i="1" dirty="0">
                <a:solidFill>
                  <a:srgbClr val="475569"/>
                </a:solidFill>
                <a:latin typeface="Arial"/>
              </a:rPr>
              <a:t>In stark contrast to depression, cognitive stress models show zero physiological generalizability in device-disjoint evaluations [14, 33].</a:t>
            </a:r>
          </a:p>
          <a:p>
            <a:pPr>
              <a:spcBef>
                <a:spcPts val="13000"/>
              </a:spcBef>
            </a:pPr>
            <a:r>
              <a:rPr sz="1050" b="1" dirty="0">
                <a:solidFill>
                  <a:srgbClr val="0F172A"/>
                </a:solidFill>
                <a:latin typeface="Arial"/>
              </a:rPr>
              <a:t>• The Transfer Failure: Moving from SAM40+CogLoad training corpora to the held-out EEGMAT amplifier yields accuracies (0.4167 / 0.5000 / 0.5833) that are statistically indistinguishable from the 0.5556 label-permutation null [14, 33].</a:t>
            </a:r>
            <a:br>
              <a:rPr dirty="0"/>
            </a:br>
            <a:br>
              <a:rPr dirty="0"/>
            </a:br>
            <a:r>
              <a:rPr sz="1050" b="1" dirty="0">
                <a:solidFill>
                  <a:srgbClr val="0F172A"/>
                </a:solidFill>
                <a:latin typeface="Arial"/>
              </a:rPr>
              <a:t>• Methodological Takeaway: Cognitive stress signatures are highly hardware-dependent or subject-specific. Claims of generalizable stress classifiers in cross-device settings are invalid on this data, representing an inert physiological signal [14, 33].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13855" y="2834640"/>
            <a:ext cx="228600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59575" y="2880360"/>
            <a:ext cx="21945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F172A"/>
                </a:solidFill>
                <a:latin typeface="Arial"/>
              </a:rPr>
              <a:t>TRANSFER ACC (L=1)</a:t>
            </a:r>
            <a:br/>
            <a:br/>
            <a:r>
              <a:rPr sz="2000" b="1">
                <a:solidFill>
                  <a:srgbClr val="991B1B"/>
                </a:solidFill>
                <a:latin typeface="Arial"/>
              </a:rPr>
              <a:t>0.4167 / 0.5000</a:t>
            </a:r>
            <a:br/>
            <a:br/>
            <a:r>
              <a:rPr sz="900">
                <a:solidFill>
                  <a:srgbClr val="0F172A"/>
                </a:solidFill>
                <a:latin typeface="Arial"/>
              </a:rPr>
              <a:t>Null Threshold: 0.5556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74175" y="2834640"/>
            <a:ext cx="228600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19895" y="2880360"/>
            <a:ext cx="21945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F172A"/>
                </a:solidFill>
                <a:latin typeface="Arial"/>
              </a:rPr>
              <a:t>TRANSFER ACC (L=0)</a:t>
            </a:r>
            <a:br/>
            <a:br/>
            <a:r>
              <a:rPr sz="2000" b="1">
                <a:solidFill>
                  <a:srgbClr val="991B1B"/>
                </a:solidFill>
                <a:latin typeface="Arial"/>
              </a:rPr>
              <a:t>0.5833</a:t>
            </a:r>
            <a:br/>
            <a:br/>
            <a:r>
              <a:rPr sz="900">
                <a:solidFill>
                  <a:srgbClr val="0F172A"/>
                </a:solidFill>
                <a:latin typeface="Arial"/>
              </a:rPr>
              <a:t>Null Threshold: 0.5556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0" y="365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F766E"/>
                </a:solidFill>
                <a:latin typeface="Arial"/>
              </a:rPr>
              <a:t>BCSE497J - Project -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Georgia"/>
              </a:rPr>
              <a:t>Results: Random Backbone Controls &amp; Channel Density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7295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Arial"/>
              </a:rPr>
              <a:t>22-08-2026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379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Arial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Arial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39496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THE UNTRAINED BACKBONE CONTROL</a:t>
            </a:r>
          </a:p>
          <a:p>
            <a:pPr>
              <a:spcAft>
                <a:spcPts val="1200"/>
              </a:spcAft>
            </a:pPr>
            <a:r>
              <a:rPr sz="1100" i="1">
                <a:solidFill>
                  <a:srgbClr val="475569"/>
                </a:solidFill>
                <a:latin typeface="Arial"/>
              </a:rPr>
              <a:t>Deep models are rarely benchmarked against untrained equivalents. When evaluated, an untrained, random-weight EEGNet backbone matches or beats trained models on stress tasks [15, 34].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t>• </a:t>
            </a:r>
            <a:r>
              <a:rPr sz="1000" b="1">
                <a:solidFill>
                  <a:srgbClr val="0F172A"/>
                </a:solidFill>
                <a:latin typeface="Arial"/>
              </a:rPr>
              <a:t>Stress / SAM40 [Trial AUC]:</a:t>
            </a:r>
            <a:r>
              <a:rPr sz="1000">
                <a:solidFill>
                  <a:srgbClr val="475569"/>
                </a:solidFill>
                <a:latin typeface="Arial"/>
              </a:rPr>
              <a:t> Completely untrained random backbone gets 0.6390, whereas the trained model reaches only 0.5884 (Permutation null is 0.5053) [34].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t>• </a:t>
            </a:r>
            <a:r>
              <a:rPr sz="1000" b="1">
                <a:solidFill>
                  <a:srgbClr val="0F172A"/>
                </a:solidFill>
                <a:latin typeface="Arial"/>
              </a:rPr>
              <a:t>Stress / CogLoad [Within-Sub AUC]:</a:t>
            </a:r>
            <a:r>
              <a:rPr sz="1000">
                <a:solidFill>
                  <a:srgbClr val="475569"/>
                </a:solidFill>
                <a:latin typeface="Arial"/>
              </a:rPr>
              <a:t> Untrained backbone reaches 0.9381, while the trained network trails at 0.8690 (Permutation null is 0.5992) [34].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t>• </a:t>
            </a:r>
            <a:r>
              <a:rPr sz="1000" b="1">
                <a:solidFill>
                  <a:srgbClr val="0F172A"/>
                </a:solidFill>
                <a:latin typeface="Arial"/>
              </a:rPr>
              <a:t>The Parameter Mechanism:</a:t>
            </a:r>
            <a:r>
              <a:rPr sz="1000">
                <a:solidFill>
                  <a:srgbClr val="475569"/>
                </a:solidFill>
                <a:latin typeface="Arial"/>
              </a:rPr>
              <a:t> 33,287 of 34,487 (96.5%) network parameters reside inside the classification heads rather than the backbone. On small-sample cohorts, the untrained backbone functions as a random projection classifier, preserving high-dimensional representations without risk of overfitting [34].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535" y="1188720"/>
            <a:ext cx="539496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2415" y="128016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CHANNEL DENSITY INVERTED-U EFFECT</a:t>
            </a:r>
          </a:p>
          <a:p>
            <a:pPr>
              <a:spcAft>
                <a:spcPts val="1200"/>
              </a:spcAft>
            </a:pPr>
            <a:r>
              <a:rPr sz="1100" i="1">
                <a:solidFill>
                  <a:srgbClr val="475569"/>
                </a:solidFill>
                <a:latin typeface="Arial"/>
              </a:rPr>
              <a:t>Sweeping channel density reveals that 'more data' is not always better. Higher sensor density overfits on modest academic cohorts [35, 37].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6 Channels (Frontal Standard) -&gt; 0.6667 Subject AUC
</a:t>
            </a:r>
            <a:r>
              <a:rPr sz="950">
                <a:solidFill>
                  <a:srgbClr val="475569"/>
                </a:solidFill>
                <a:latin typeface="Arial"/>
              </a:rPr>
              <a:t>Establishes a solid, generalizable screening standard utilizing only frontal electrodes [35].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000" b="1">
                <a:solidFill>
                  <a:srgbClr val="0F766E"/>
                </a:solidFill>
                <a:latin typeface="Arial"/>
              </a:rPr>
              <a:t>32 Channels (Optimal Density) -&gt; 0.7371 Subject AUC
</a:t>
            </a:r>
            <a:r>
              <a:rPr sz="950">
                <a:solidFill>
                  <a:srgbClr val="475569"/>
                </a:solidFill>
                <a:latin typeface="Arial"/>
              </a:rPr>
              <a:t>The peak performance point of the Inverted-U curve, balancing spatial representation and parameter constraint [35].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128 Channels (Full HydroCel) -&gt; 0.6279 Subject AUC
</a:t>
            </a:r>
            <a:r>
              <a:rPr sz="950">
                <a:solidFill>
                  <a:srgbClr val="475569"/>
                </a:solidFill>
                <a:latin typeface="Arial"/>
              </a:rPr>
              <a:t>Complete overfitting collapse. Performance drops below the 6-channel frontal baseline due to statistical dimensional starvation on modest clinical cohorts [35, 37].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0" y="365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F766E"/>
                </a:solidFill>
                <a:latin typeface="Arial"/>
              </a:rPr>
              <a:t>BCSE497J - Project -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Georgia"/>
              </a:rPr>
              <a:t>Important Negative Findings and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7295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Arial"/>
              </a:rPr>
              <a:t>22-08-2026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379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Arial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Arial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277295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115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991B1B"/>
                </a:solidFill>
                <a:latin typeface="Arial"/>
              </a:rPr>
              <a:t>LIMITATIONS, SOFTWARE ERRORS, &amp; DISCLAIMERS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t>• </a:t>
            </a:r>
            <a:r>
              <a:rPr sz="1050" b="1">
                <a:solidFill>
                  <a:srgbClr val="0F172A"/>
                </a:solidFill>
                <a:latin typeface="Arial"/>
              </a:rPr>
              <a:t>Strict Diagnostic Triage Disclaimer:</a:t>
            </a:r>
            <a:r>
              <a:rPr sz="1050">
                <a:solidFill>
                  <a:srgbClr val="475569"/>
                </a:solidFill>
                <a:latin typeface="Arial"/>
              </a:rPr>
              <a:t> This system is NOT designed or clinically validated for medical diagnosis. It is positioned strictly as a decision-support, low-cost screening triage aid for clinicians [19, 98, 104].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t>• </a:t>
            </a:r>
            <a:r>
              <a:rPr sz="1050" b="1">
                <a:solidFill>
                  <a:srgbClr val="0F172A"/>
                </a:solidFill>
                <a:latin typeface="Arial"/>
              </a:rPr>
              <a:t>Stress Generalization Limits:</a:t>
            </a:r>
            <a:r>
              <a:rPr sz="1050">
                <a:solidFill>
                  <a:srgbClr val="475569"/>
                </a:solidFill>
                <a:latin typeface="Arial"/>
              </a:rPr>
              <a:t> The cognitive stress specialist head lacks cross-device generalization. When evaluated on the held-out EEGMAT dataset, performance matches untrained random backbones and is bounded by the permutation null threshold [34, 40].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t>• </a:t>
            </a:r>
            <a:r>
              <a:rPr sz="1050" b="1">
                <a:solidFill>
                  <a:srgbClr val="0F172A"/>
                </a:solidFill>
                <a:latin typeface="Arial"/>
              </a:rPr>
              <a:t>Sample Size Boundedness:</a:t>
            </a:r>
            <a:r>
              <a:rPr sz="1050">
                <a:solidFill>
                  <a:srgbClr val="475569"/>
                </a:solidFill>
                <a:latin typeface="Arial"/>
              </a:rPr>
              <a:t> Modest cohort sizes (15–61 subjects) cause single-split accuracies to swing by over 10.8% across splits, meaning small differences are statistically unresolvable without multiple split draws [32, 40].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t>• </a:t>
            </a:r>
            <a:r>
              <a:rPr sz="1050" b="1">
                <a:solidFill>
                  <a:srgbClr val="0F172A"/>
                </a:solidFill>
                <a:latin typeface="Arial"/>
              </a:rPr>
              <a:t>Anxiety Separability Gap:</a:t>
            </a:r>
            <a:r>
              <a:rPr sz="1050">
                <a:solidFill>
                  <a:srgbClr val="475569"/>
                </a:solidFill>
                <a:latin typeface="Arial"/>
              </a:rPr>
              <a:t> Anxiety has poor separation from depression under a single protocol (BRMH, n=527), showing a per-disorder recall of only 0.146–0.178. Demographics alone match combined EEG accuracy [35, 40].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t>• </a:t>
            </a:r>
            <a:r>
              <a:rPr sz="1050" b="1">
                <a:solidFill>
                  <a:srgbClr val="0F172A"/>
                </a:solidFill>
                <a:latin typeface="Arial"/>
              </a:rPr>
              <a:t>The Legacy Sampling Defect:</a:t>
            </a:r>
            <a:r>
              <a:rPr sz="1050">
                <a:solidFill>
                  <a:srgbClr val="475569"/>
                </a:solidFill>
                <a:latin typeface="Arial"/>
              </a:rPr>
              <a:t> 15% of segments in the legacy SAM40 dataset retain an unpatched decimation defect. This was intentionally left unpatched to ensure perfect reproducibility across the 36 evaluated architectures [39, 40].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t>• </a:t>
            </a:r>
            <a:r>
              <a:rPr sz="1050" b="1">
                <a:solidFill>
                  <a:srgbClr val="0F172A"/>
                </a:solidFill>
                <a:latin typeface="Arial"/>
              </a:rPr>
              <a:t>Silent Software Failures Exposed:</a:t>
            </a:r>
            <a:r>
              <a:rPr sz="1050">
                <a:solidFill>
                  <a:srgbClr val="475569"/>
                </a:solidFill>
                <a:latin typeface="Arial"/>
              </a:rPr>
              <a:t> The methodological audit identified three critical bugs: tuning on F1 caused models to predict all-positive; absolute transfer thresholds failed cross-device; and degenerate thresholds produced spurious balanced accuracy rankings [32, 40].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0" y="365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F766E"/>
                </a:solidFill>
                <a:latin typeface="Arial"/>
              </a:rPr>
              <a:t>BCSE497J - Project -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Georgia"/>
              </a:rPr>
              <a:t>Conclusion and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7295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Arial"/>
              </a:rPr>
              <a:t>22-08-2026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379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Arial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Arial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39496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PROJECT KEY TAKEAWAYS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t>• </a:t>
            </a:r>
            <a:r>
              <a:rPr sz="1050" b="1">
                <a:solidFill>
                  <a:srgbClr val="0F172A"/>
                </a:solidFill>
                <a:latin typeface="Arial"/>
              </a:rPr>
              <a:t>Protocols Dominate Architecture:</a:t>
            </a:r>
            <a:r>
              <a:rPr sz="1050">
                <a:solidFill>
                  <a:srgbClr val="475569"/>
                </a:solidFill>
                <a:latin typeface="Arial"/>
              </a:rPr>
              <a:t> In EEG classification, the evaluation protocol is the dominant source of reported accuracy. Random splits over overlapping windows inflate performance from 0.6256 to 0.9393 [15, 41].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t>• </a:t>
            </a:r>
            <a:r>
              <a:rPr sz="1050" b="1">
                <a:solidFill>
                  <a:srgbClr val="0F172A"/>
                </a:solidFill>
                <a:latin typeface="Arial"/>
              </a:rPr>
              <a:t>Factorization Beats Softmax:</a:t>
            </a:r>
            <a:r>
              <a:rPr sz="1050">
                <a:solidFill>
                  <a:srgbClr val="475569"/>
                </a:solidFill>
                <a:latin typeface="Arial"/>
              </a:rPr>
              <a:t> Decoupling three-way nominal decisions into binary specialists (gated on protocol metadata or routed hierarchically) is the only mathematically defensible way to utilize pooled single-amplifier datasets [12, 13, 40].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t>• </a:t>
            </a:r>
            <a:r>
              <a:rPr sz="1050" b="1">
                <a:solidFill>
                  <a:srgbClr val="0F172A"/>
                </a:solidFill>
                <a:latin typeface="Arial"/>
              </a:rPr>
              <a:t>Explicit Geometry Beats Deep Learning:</a:t>
            </a:r>
            <a:r>
              <a:rPr sz="1050">
                <a:solidFill>
                  <a:srgbClr val="475569"/>
                </a:solidFill>
                <a:latin typeface="Arial"/>
              </a:rPr>
              <a:t> Riemannian tangent-space projections and covariance geometry outperform deep models on small clinical cohorts [37, 41].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t>• </a:t>
            </a:r>
            <a:r>
              <a:rPr sz="1050" b="1">
                <a:solidFill>
                  <a:srgbClr val="0F172A"/>
                </a:solidFill>
                <a:latin typeface="Arial"/>
              </a:rPr>
              <a:t>Sensor Density Inverted-U:</a:t>
            </a:r>
            <a:r>
              <a:rPr sz="1050">
                <a:solidFill>
                  <a:srgbClr val="475569"/>
                </a:solidFill>
                <a:latin typeface="Arial"/>
              </a:rPr>
              <a:t> Peak performance occurs at 32 channels. High-density montages (128 channels) overfit rapidly [35, 41].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535" y="1188720"/>
            <a:ext cx="539496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2415" y="128016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FUTURE RESEARCH WORK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Ramped-alpha DANN: </a:t>
            </a:r>
            <a:r>
              <a:rPr sz="1000">
                <a:solidFill>
                  <a:srgbClr val="475569"/>
                </a:solidFill>
                <a:latin typeface="Arial"/>
              </a:rPr>
              <a:t>Implement domain-adversarial neural networks (DANN) with an annealed alpha schedule (0 -&gt; 1) rather than a fixed coefficient. This stabilizes the initial backbone representations before applying the gradient-reversal penalty [42].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Continuous Psychometric scoring: </a:t>
            </a:r>
            <a:r>
              <a:rPr sz="1000">
                <a:solidFill>
                  <a:srgbClr val="475569"/>
                </a:solidFill>
                <a:latin typeface="Arial"/>
              </a:rPr>
              <a:t>Transition from binary diagnostic classification to continuous regression of psychometric scores (PHQ-9 and GAD-7) to model fine-grained, intermediate distress states [42].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Multimodal Expansion: </a:t>
            </a:r>
            <a:r>
              <a:rPr sz="1000">
                <a:solidFill>
                  <a:srgbClr val="475569"/>
                </a:solidFill>
                <a:latin typeface="Arial"/>
              </a:rPr>
              <a:t>Incorporate and synchronize 6.2 GB of MODMA event-related potential (ERP) and audio recordings currently on disk, moving beyond EEG-only models to multimodal architectures [42].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Bayesian Hyperparameter Sweeps: </a:t>
            </a:r>
            <a:r>
              <a:rPr sz="1000">
                <a:solidFill>
                  <a:srgbClr val="475569"/>
                </a:solidFill>
                <a:latin typeface="Arial"/>
              </a:rPr>
              <a:t>Conduct nested Bayesian optimization sweeps to establish whether the deep-learning performance gaps relative to Riemannian baselines persist [42].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0" y="365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F766E"/>
                </a:solidFill>
                <a:latin typeface="Arial"/>
              </a:rPr>
              <a:t>BCSE497J - Project -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Georgia"/>
              </a:rPr>
              <a:t>Academic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7295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Arial"/>
              </a:rPr>
              <a:t>22-08-2026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379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Arial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Arial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277295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920" y="1280160"/>
            <a:ext cx="109115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ACADEMIC REFERENCES (IEEE FORMAT)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050" b="1">
                <a:solidFill>
                  <a:srgbClr val="0F766E"/>
                </a:solidFill>
                <a:latin typeface="Arial"/>
              </a:rPr>
              <a:t>[1] R. J. Davidson, "Anterior electrophysiological asymmetries, emotion, and depression: Conceptual and methodological conundrums," Psychophysiology, Vol. 35, No. 5, (1998), pp. 607–614.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050" b="1">
                <a:solidFill>
                  <a:srgbClr val="0F766E"/>
                </a:solidFill>
                <a:latin typeface="Arial"/>
              </a:rPr>
              <a:t>[2] H. Cai, Y. Gao, S. Sun et al., "MODMA dataset: A multi-modal open dataset for mental-disorder analysis," Scientific Data, Vol. 9, (2022), Art. no. 178.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050" b="1">
                <a:solidFill>
                  <a:srgbClr val="0F766E"/>
                </a:solidFill>
                <a:latin typeface="Arial"/>
              </a:rPr>
              <a:t>[3] V. J. Lawhern, A. J. Solon, N. R. Waytowich et al., "EEGNet: A compact convolutional neural network for EEG-based brain–computer interfaces," Journal of Neural Engineering, Vol. 15, No. 5, (2018).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050" b="1">
                <a:solidFill>
                  <a:srgbClr val="0F766E"/>
                </a:solidFill>
                <a:latin typeface="Arial"/>
              </a:rPr>
              <a:t>[4] A. Barachant, S. Bonnet, M. Congedo, and C. Jutten, "Multiclass brain–computer interface classification by Riemannian geometry," IEEE Transactions on Biomedical Engineering, Vol. 59, No. 4, (2012), pp. 920–928.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050" b="1">
                <a:solidFill>
                  <a:srgbClr val="0F766E"/>
                </a:solidFill>
                <a:latin typeface="Arial"/>
              </a:rPr>
              <a:t>[5] P. Zanini, M. Congedo, C. Jutten, S. Said, and Y. Berthoumieu, "Transfer learning: A Riemannian geometry framework with applications to brain–computer interfaces," IEEE TBME, Vol. 65, No. 5, (2018), pp. 1107–1116.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050" b="1">
                <a:solidFill>
                  <a:srgbClr val="0F766E"/>
                </a:solidFill>
                <a:latin typeface="Arial"/>
              </a:rPr>
              <a:t>[6] S. Kapoor and A. Narayanan, "Leakage and the reproducibility crisis in machine-learning-based science," Patterns, Vol. 4, No. 9, (2023), Art. no. 100804.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050" b="1">
                <a:solidFill>
                  <a:srgbClr val="0F766E"/>
                </a:solidFill>
                <a:latin typeface="Arial"/>
              </a:rPr>
              <a:t>[7] W. Mumtaz, S. S. A. Ali, M. A. M. Yasin, and A. S. Malik, "A machine learning framework involving EEG-based functional connectivity to diagnose major depressive disorder (MDD)," Medical &amp; Biological Engineering &amp; Computing, Vol. 56, No. 2, (2018), pp. 233–246.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4343</Words>
  <Application>Microsoft Office PowerPoint</Application>
  <PresentationFormat>Widescreen</PresentationFormat>
  <Paragraphs>306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Akshat Agarwal</cp:lastModifiedBy>
  <cp:revision>4</cp:revision>
  <dcterms:created xsi:type="dcterms:W3CDTF">2013-01-27T09:14:16Z</dcterms:created>
  <dcterms:modified xsi:type="dcterms:W3CDTF">2026-09-08T15:20:26Z</dcterms:modified>
  <cp:category/>
</cp:coreProperties>
</file>